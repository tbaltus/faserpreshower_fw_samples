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70" r:id="rId4"/>
    <p:sldId id="26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51206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3823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4789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05652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826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2825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434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017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2137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4663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8262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H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424CF-3E3C-468B-9B86-477149F1C369}" type="datetimeFigureOut">
              <a:rPr lang="fr-CH" smtClean="0"/>
              <a:t>15.02.2024</a:t>
            </a:fld>
            <a:endParaRPr lang="fr-CH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C60BB-D149-41D6-AC36-78497C76A65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3417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project/614d9f7a66efae7a2565bf2b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verleaf.com/project/61928d5e6b9412262dcc313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3999" y="0"/>
            <a:ext cx="9144000" cy="2387600"/>
          </a:xfrm>
        </p:spPr>
        <p:txBody>
          <a:bodyPr/>
          <a:lstStyle/>
          <a:p>
            <a:r>
              <a:rPr lang="fr-CH" dirty="0" smtClean="0"/>
              <a:t>FPS_SC_SPI_PRE_PROD_ASIC</a:t>
            </a:r>
            <a:br>
              <a:rPr lang="fr-CH" dirty="0" smtClean="0"/>
            </a:br>
            <a:r>
              <a:rPr lang="fr-CH" sz="2800" dirty="0" smtClean="0"/>
              <a:t>Slow control FASER chip</a:t>
            </a:r>
            <a:endParaRPr lang="fr-CH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 dirty="0"/>
          </a:p>
        </p:txBody>
      </p:sp>
      <p:grpSp>
        <p:nvGrpSpPr>
          <p:cNvPr id="9" name="Groupe 8"/>
          <p:cNvGrpSpPr/>
          <p:nvPr/>
        </p:nvGrpSpPr>
        <p:grpSpPr>
          <a:xfrm>
            <a:off x="1668043" y="2573831"/>
            <a:ext cx="8855912" cy="3295387"/>
            <a:chOff x="1668043" y="2573831"/>
            <a:chExt cx="8855912" cy="3295387"/>
          </a:xfrm>
        </p:grpSpPr>
        <p:grpSp>
          <p:nvGrpSpPr>
            <p:cNvPr id="5" name="Groupe 4"/>
            <p:cNvGrpSpPr/>
            <p:nvPr/>
          </p:nvGrpSpPr>
          <p:grpSpPr>
            <a:xfrm>
              <a:off x="1668043" y="2573831"/>
              <a:ext cx="8855912" cy="3295387"/>
              <a:chOff x="1668043" y="2573831"/>
              <a:chExt cx="8855912" cy="3295387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8043" y="2573831"/>
                <a:ext cx="8855912" cy="3295387"/>
              </a:xfrm>
              <a:prstGeom prst="rect">
                <a:avLst/>
              </a:prstGeom>
            </p:spPr>
          </p:pic>
          <p:sp>
            <p:nvSpPr>
              <p:cNvPr id="8" name="ZoneTexte 7"/>
              <p:cNvSpPr txBox="1"/>
              <p:nvPr/>
            </p:nvSpPr>
            <p:spPr>
              <a:xfrm>
                <a:off x="2920585" y="3894772"/>
                <a:ext cx="27981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fr-CH" dirty="0"/>
              </a:p>
            </p:txBody>
          </p:sp>
        </p:grpSp>
        <p:sp>
          <p:nvSpPr>
            <p:cNvPr id="4" name="ZoneTexte 3"/>
            <p:cNvSpPr txBox="1"/>
            <p:nvPr/>
          </p:nvSpPr>
          <p:spPr>
            <a:xfrm>
              <a:off x="2827737" y="3885443"/>
              <a:ext cx="615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dirty="0" smtClean="0"/>
                <a:t>18</a:t>
              </a:r>
              <a:endParaRPr lang="fr-CH" dirty="0"/>
            </a:p>
          </p:txBody>
        </p:sp>
      </p:grpSp>
      <p:sp>
        <p:nvSpPr>
          <p:cNvPr id="7" name="ZoneTexte 6"/>
          <p:cNvSpPr txBox="1"/>
          <p:nvPr/>
        </p:nvSpPr>
        <p:spPr>
          <a:xfrm>
            <a:off x="241069" y="182883"/>
            <a:ext cx="6708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Important point : </a:t>
            </a:r>
            <a:r>
              <a:rPr lang="fr-FR" sz="1200" b="1" dirty="0" smtClean="0">
                <a:solidFill>
                  <a:srgbClr val="0070C0"/>
                </a:solidFill>
              </a:rPr>
              <a:t>FPS_SC_SPI </a:t>
            </a:r>
            <a:r>
              <a:rPr lang="fr-FR" sz="1200" b="1" dirty="0" err="1">
                <a:solidFill>
                  <a:srgbClr val="0070C0"/>
                </a:solidFill>
              </a:rPr>
              <a:t>works</a:t>
            </a:r>
            <a:r>
              <a:rPr lang="fr-FR" sz="1200" b="1" dirty="0">
                <a:solidFill>
                  <a:srgbClr val="0070C0"/>
                </a:solidFill>
              </a:rPr>
              <a:t> </a:t>
            </a:r>
            <a:r>
              <a:rPr lang="fr-FR" sz="1200" b="1" dirty="0" err="1">
                <a:solidFill>
                  <a:srgbClr val="0070C0"/>
                </a:solidFill>
              </a:rPr>
              <a:t>similarily</a:t>
            </a:r>
            <a:r>
              <a:rPr lang="fr-FR" sz="1200" b="1" dirty="0">
                <a:solidFill>
                  <a:srgbClr val="0070C0"/>
                </a:solidFill>
              </a:rPr>
              <a:t> to </a:t>
            </a:r>
            <a:r>
              <a:rPr lang="fr-FR" sz="1200" b="1" dirty="0" smtClean="0">
                <a:solidFill>
                  <a:srgbClr val="0070C0"/>
                </a:solidFill>
              </a:rPr>
              <a:t>FPS_SC_SPI_PRE_PROD_ASIC </a:t>
            </a:r>
            <a:r>
              <a:rPr lang="fr-FR" sz="1200" b="1" dirty="0" err="1">
                <a:solidFill>
                  <a:srgbClr val="0070C0"/>
                </a:solidFill>
              </a:rPr>
              <a:t>except</a:t>
            </a:r>
            <a:r>
              <a:rPr lang="fr-FR" sz="1200" b="1" dirty="0">
                <a:solidFill>
                  <a:srgbClr val="0070C0"/>
                </a:solidFill>
              </a:rPr>
              <a:t> :</a:t>
            </a:r>
          </a:p>
          <a:p>
            <a:r>
              <a:rPr lang="fr-FR" sz="1200" b="1" dirty="0">
                <a:solidFill>
                  <a:srgbClr val="0070C0"/>
                </a:solidFill>
              </a:rPr>
              <a:t>- The </a:t>
            </a:r>
            <a:r>
              <a:rPr lang="fr-FR" sz="1200" b="1" dirty="0" err="1">
                <a:solidFill>
                  <a:srgbClr val="0070C0"/>
                </a:solidFill>
              </a:rPr>
              <a:t>length</a:t>
            </a:r>
            <a:r>
              <a:rPr lang="fr-FR" sz="1200" b="1" dirty="0">
                <a:solidFill>
                  <a:srgbClr val="0070C0"/>
                </a:solidFill>
              </a:rPr>
              <a:t> of spi </a:t>
            </a:r>
            <a:r>
              <a:rPr lang="fr-FR" sz="1200" b="1" dirty="0" err="1">
                <a:solidFill>
                  <a:srgbClr val="0070C0"/>
                </a:solidFill>
              </a:rPr>
              <a:t>commands</a:t>
            </a:r>
            <a:r>
              <a:rPr lang="fr-FR" sz="1200" b="1" dirty="0">
                <a:solidFill>
                  <a:srgbClr val="0070C0"/>
                </a:solidFill>
              </a:rPr>
              <a:t> </a:t>
            </a:r>
            <a:r>
              <a:rPr lang="fr-FR" sz="1200" b="1" dirty="0" err="1">
                <a:solidFill>
                  <a:srgbClr val="0070C0"/>
                </a:solidFill>
              </a:rPr>
              <a:t>is</a:t>
            </a:r>
            <a:r>
              <a:rPr lang="fr-FR" sz="1200" b="1" dirty="0">
                <a:solidFill>
                  <a:srgbClr val="0070C0"/>
                </a:solidFill>
              </a:rPr>
              <a:t> 20 bits </a:t>
            </a:r>
            <a:r>
              <a:rPr lang="fr-FR" sz="1200" b="1" dirty="0" err="1">
                <a:solidFill>
                  <a:srgbClr val="0070C0"/>
                </a:solidFill>
              </a:rPr>
              <a:t>instead</a:t>
            </a:r>
            <a:r>
              <a:rPr lang="fr-FR" sz="1200" b="1" dirty="0">
                <a:solidFill>
                  <a:srgbClr val="0070C0"/>
                </a:solidFill>
              </a:rPr>
              <a:t> of </a:t>
            </a:r>
            <a:r>
              <a:rPr lang="fr-FR" sz="1200" b="1" dirty="0" smtClean="0">
                <a:solidFill>
                  <a:srgbClr val="0070C0"/>
                </a:solidFill>
              </a:rPr>
              <a:t>19</a:t>
            </a:r>
            <a:endParaRPr lang="fr-FR" sz="1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68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sz="3200" dirty="0" smtClean="0"/>
              <a:t>Timing Protocol (over 19 bits </a:t>
            </a:r>
            <a:r>
              <a:rPr lang="fr-CH" sz="3200" dirty="0" err="1" smtClean="0"/>
              <a:t>instead</a:t>
            </a:r>
            <a:r>
              <a:rPr lang="fr-CH" sz="3200" dirty="0" smtClean="0"/>
              <a:t> of 8, MSB first, 8.33MHz):</a:t>
            </a:r>
            <a:endParaRPr lang="fr-CH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71" y="2070435"/>
            <a:ext cx="10515600" cy="3695461"/>
          </a:xfrm>
        </p:spPr>
      </p:pic>
      <p:sp>
        <p:nvSpPr>
          <p:cNvPr id="5" name="ZoneTexte 4"/>
          <p:cNvSpPr txBox="1"/>
          <p:nvPr/>
        </p:nvSpPr>
        <p:spPr>
          <a:xfrm>
            <a:off x="465513" y="6159731"/>
            <a:ext cx="9077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dirty="0"/>
              <a:t>- </a:t>
            </a:r>
            <a:r>
              <a:rPr lang="fr-CH" sz="1400" dirty="0">
                <a:hlinkClick r:id="rId3"/>
              </a:rPr>
              <a:t>FASER_MAIN - Online </a:t>
            </a:r>
            <a:r>
              <a:rPr lang="fr-CH" sz="1400" dirty="0" err="1">
                <a:hlinkClick r:id="rId3"/>
              </a:rPr>
              <a:t>LaTeX</a:t>
            </a:r>
            <a:r>
              <a:rPr lang="fr-CH" sz="1400" dirty="0">
                <a:hlinkClick r:id="rId3"/>
              </a:rPr>
              <a:t> Editor </a:t>
            </a:r>
            <a:r>
              <a:rPr lang="fr-CH" sz="1400" dirty="0" err="1">
                <a:hlinkClick r:id="rId3"/>
              </a:rPr>
              <a:t>Overleaf</a:t>
            </a:r>
            <a:r>
              <a:rPr lang="fr-CH" sz="1400" dirty="0"/>
              <a:t/>
            </a:r>
            <a:br>
              <a:rPr lang="fr-CH" sz="1400" dirty="0"/>
            </a:br>
            <a:r>
              <a:rPr lang="fr-CH" sz="1400" dirty="0"/>
              <a:t>- </a:t>
            </a:r>
            <a:r>
              <a:rPr lang="fr-CH" sz="1400" dirty="0">
                <a:hlinkClick r:id="rId4"/>
              </a:rPr>
              <a:t>FASER </a:t>
            </a:r>
            <a:r>
              <a:rPr lang="fr-CH" sz="1400" dirty="0" err="1">
                <a:hlinkClick r:id="rId4"/>
              </a:rPr>
              <a:t>Preshower</a:t>
            </a:r>
            <a:r>
              <a:rPr lang="fr-CH" sz="1400" dirty="0">
                <a:hlinkClick r:id="rId4"/>
              </a:rPr>
              <a:t> Upgrade - </a:t>
            </a:r>
            <a:r>
              <a:rPr lang="fr-CH" sz="1400" dirty="0" err="1">
                <a:hlinkClick r:id="rId4"/>
              </a:rPr>
              <a:t>Readout</a:t>
            </a:r>
            <a:r>
              <a:rPr lang="fr-CH" sz="1400" dirty="0">
                <a:hlinkClick r:id="rId4"/>
              </a:rPr>
              <a:t> </a:t>
            </a:r>
            <a:r>
              <a:rPr lang="fr-CH" sz="1400" dirty="0" err="1">
                <a:hlinkClick r:id="rId4"/>
              </a:rPr>
              <a:t>Specifications</a:t>
            </a:r>
            <a:r>
              <a:rPr lang="fr-CH" sz="1400" dirty="0">
                <a:hlinkClick r:id="rId4"/>
              </a:rPr>
              <a:t> - Online </a:t>
            </a:r>
            <a:r>
              <a:rPr lang="fr-CH" sz="1400" dirty="0" err="1">
                <a:hlinkClick r:id="rId4"/>
              </a:rPr>
              <a:t>LaTeX</a:t>
            </a:r>
            <a:r>
              <a:rPr lang="fr-CH" sz="1400" dirty="0">
                <a:hlinkClick r:id="rId4"/>
              </a:rPr>
              <a:t> Editor </a:t>
            </a:r>
            <a:r>
              <a:rPr lang="fr-CH" sz="1400" dirty="0" err="1">
                <a:hlinkClick r:id="rId4"/>
              </a:rPr>
              <a:t>Overleaf</a:t>
            </a:r>
            <a:endParaRPr lang="fr-CH" sz="1400" dirty="0"/>
          </a:p>
        </p:txBody>
      </p:sp>
      <p:sp>
        <p:nvSpPr>
          <p:cNvPr id="6" name="ZoneTexte 5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 smtClean="0">
                <a:solidFill>
                  <a:srgbClr val="0070C0"/>
                </a:solidFill>
              </a:rPr>
              <a:t>FPS_SC_SPI_PRE_PROD_ASIC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3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 smtClean="0"/>
              <a:t>Finite</a:t>
            </a:r>
            <a:r>
              <a:rPr lang="fr-CH" dirty="0" smtClean="0"/>
              <a:t> State Machine</a:t>
            </a:r>
            <a:endParaRPr lang="fr-CH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899" y="1443240"/>
            <a:ext cx="8468201" cy="5161892"/>
          </a:xfrm>
        </p:spPr>
      </p:pic>
      <p:sp>
        <p:nvSpPr>
          <p:cNvPr id="4" name="ZoneTexte 3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 smtClean="0">
                <a:solidFill>
                  <a:srgbClr val="0070C0"/>
                </a:solidFill>
              </a:rPr>
              <a:t>FPS_SC_SPI_PRE_PROD_ASIC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28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5458" y="124058"/>
            <a:ext cx="10515600" cy="474460"/>
          </a:xfrm>
        </p:spPr>
        <p:txBody>
          <a:bodyPr>
            <a:normAutofit fontScale="90000"/>
          </a:bodyPr>
          <a:lstStyle/>
          <a:p>
            <a:r>
              <a:rPr lang="fr-CH" dirty="0" smtClean="0"/>
              <a:t>Timing</a:t>
            </a:r>
            <a:endParaRPr lang="fr-CH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" y="1978430"/>
            <a:ext cx="11429322" cy="3176630"/>
          </a:xfrm>
        </p:spPr>
      </p:pic>
      <p:sp>
        <p:nvSpPr>
          <p:cNvPr id="4" name="ZoneTexte 3"/>
          <p:cNvSpPr txBox="1"/>
          <p:nvPr/>
        </p:nvSpPr>
        <p:spPr>
          <a:xfrm>
            <a:off x="10316095" y="99753"/>
            <a:ext cx="1645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dirty="0" smtClean="0">
                <a:solidFill>
                  <a:srgbClr val="0070C0"/>
                </a:solidFill>
              </a:rPr>
              <a:t>FPS_SC_SPI_PRE_PROD_ASIC</a:t>
            </a:r>
            <a:endParaRPr lang="fr-CH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22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53</Words>
  <Application>Microsoft Office PowerPoint</Application>
  <PresentationFormat>Grand écran</PresentationFormat>
  <Paragraphs>11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FPS_SC_SPI_PRE_PROD_ASIC Slow control FASER chip</vt:lpstr>
      <vt:lpstr>Timing Protocol (over 19 bits instead of 8, MSB first, 8.33MHz):</vt:lpstr>
      <vt:lpstr>Finite State Machine</vt:lpstr>
      <vt:lpstr>Timing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FPS_10MHz_SPI18</dc:title>
  <dc:creator>Terry Baltus</dc:creator>
  <cp:lastModifiedBy>Terry Baltus</cp:lastModifiedBy>
  <cp:revision>29</cp:revision>
  <dcterms:created xsi:type="dcterms:W3CDTF">2022-06-27T09:32:20Z</dcterms:created>
  <dcterms:modified xsi:type="dcterms:W3CDTF">2024-02-15T16:26:17Z</dcterms:modified>
</cp:coreProperties>
</file>